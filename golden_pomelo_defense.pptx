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5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客家金柚特色农产品</a:t>
            </a:r>
          </a:p>
          <a:p>
            <a:pPr algn="ctr">
              <a:defRPr sz="5200" b="1">
                <a:solidFill>
                  <a:srgbClr val="FFFFFF"/>
                </a:solidFill>
              </a:defRPr>
            </a:pPr>
            <a:r>
              <a:t>AI智荐系统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</a:p>
          <a:p>
            <a:pPr algn="ctr">
              <a:defRPr sz="2200" b="0">
                <a:solidFill>
                  <a:srgbClr val="FFFFFF"/>
                </a:solidFill>
              </a:defRPr>
            </a:pPr>
            <a:r>
              <a:t>大模型驱动 · 精准选柚 · 客家文化传承</a:t>
            </a:r>
          </a:p>
          <a:p>
            <a:pPr algn="ctr">
              <a:defRPr sz="2000" b="0">
                <a:solidFill>
                  <a:srgbClr val="FFFFFF"/>
                </a:solidFill>
              </a:defRPr>
            </a:pPr>
          </a:p>
          <a:p>
            <a:pPr algn="ctr">
              <a:defRPr sz="1800" b="0">
                <a:solidFill>
                  <a:srgbClr val="FAF5EB"/>
                </a:solidFill>
              </a:defRPr>
            </a:pPr>
            <a:r>
              <a:t>嘉应学院 · 大学生创新训练计划项目</a:t>
            </a:r>
          </a:p>
          <a:p>
            <a:pPr algn="ctr">
              <a:defRPr sz="1600" b="0">
                <a:solidFill>
                  <a:srgbClr val="FAF5EB"/>
                </a:solidFill>
              </a:defRPr>
            </a:pPr>
            <a:r>
              <a:t>2026.03 — 2027.03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3A28"/>
                </a:solidFill>
              </a:defRPr>
            </a:pPr>
            <a:r>
              <a:t>项目背景与目标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54864"/>
          </a:xfrm>
          <a:prstGeom prst="rect">
            <a:avLst/>
          </a:prstGeom>
          <a:solidFill>
            <a:srgbClr val="D95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800">
                <a:solidFill>
                  <a:srgbClr val="2C2416"/>
                </a:solidFill>
              </a:defRPr>
            </a:pPr>
            <a:r>
              <a:t>背景：</a:t>
            </a:r>
            <a:br/>
            <a:r>
              <a:t>• 梅州是全国最大的金柚种植区之一，客家金柚承载深厚文化内涵</a:t>
            </a:r>
            <a:br/>
            <a:r>
              <a:t>• 传统销售缺乏数字化、智能化的展示与选品手段</a:t>
            </a:r>
            <a:br/>
            <a:r>
              <a:t>• 消费者面对众多品类，难以快速找到适合自己的金柚</a:t>
            </a:r>
            <a:br/>
            <a:br/>
            <a:r>
              <a:t>目标：</a:t>
            </a:r>
            <a:br/>
            <a:r>
              <a:t>• 构建基于大模型的AI智荐系统，提供个性化金柚推荐</a:t>
            </a:r>
            <a:br/>
            <a:r>
              <a:t>• 打造融合客家文化的智能问答与内容生成能力</a:t>
            </a:r>
            <a:br/>
            <a:r>
              <a:t>• 实现Web + 微信小程序双端覆盖，服务更广泛用户群体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B8B70"/>
                </a:solidFill>
              </a:defRPr>
            </a:pPr>
            <a:r>
              <a:t>客家金柚AI智荐系统 · 嘉应学院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3A28"/>
                </a:solidFill>
              </a:defRPr>
            </a:pPr>
            <a:r>
              <a:t>系统架构（四层）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54864"/>
          </a:xfrm>
          <a:prstGeom prst="rect">
            <a:avLst/>
          </a:prstGeom>
          <a:solidFill>
            <a:srgbClr val="D95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800">
                <a:solidFill>
                  <a:srgbClr val="2C2416"/>
                </a:solidFill>
              </a:defRPr>
            </a:pPr>
            <a:r>
              <a:t>┌─────────────────────────────────────────────────┐</a:t>
            </a:r>
            <a:br/>
            <a:r>
              <a:t>│  前端展示层    Vue 3 Web (:3000)  +  微信小程序    │</a:t>
            </a:r>
            <a:br/>
            <a:r>
              <a:t>│                    ↓ HTTP                            │</a:t>
            </a:r>
            <a:br/>
            <a:r>
              <a:t>│  后端服务层    Spring Boot 3.2 (:8080)              │</a:t>
            </a:r>
            <a:br/>
            <a:r>
              <a:t>│               Controller → Service → Mapper         │</a:t>
            </a:r>
            <a:br/>
            <a:r>
              <a:t>│               Redis 缓存 · JWT Token 认证           │</a:t>
            </a:r>
            <a:br/>
            <a:r>
              <a:t>│                    ↓ RestTemplate                    │</a:t>
            </a:r>
            <a:br/>
            <a:r>
              <a:t>│  AI 算法层     Python Flask (:5000)                 │</a:t>
            </a:r>
            <a:br/>
            <a:r>
              <a:t>│               意图识别 → 融合排序 → DeepSeek API    │</a:t>
            </a:r>
            <a:br/>
            <a:r>
              <a:t>│                    ↓ JDBC                            │</a:t>
            </a:r>
            <a:br/>
            <a:r>
              <a:t>│  数据存储层    MySQL 8.0 + Redis 7                  │</a:t>
            </a:r>
            <a:br/>
            <a:r>
              <a:t>│               5张核心表 · 金柚知识库                │</a:t>
            </a:r>
            <a:br/>
            <a:r>
              <a:t>└─────────────────────────────────────────────────┘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B8B70"/>
                </a:solidFill>
              </a:defRPr>
            </a:pPr>
            <a:r>
              <a:t>客家金柚AI智荐系统 · 嘉应学院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3A28"/>
                </a:solidFill>
              </a:defRPr>
            </a:pPr>
            <a:r>
              <a:t>核心技术：大模型+规则式融合推荐算法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54864"/>
          </a:xfrm>
          <a:prstGeom prst="rect">
            <a:avLst/>
          </a:prstGeom>
          <a:solidFill>
            <a:srgbClr val="D95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800">
                <a:solidFill>
                  <a:srgbClr val="2C2416"/>
                </a:solidFill>
              </a:defRPr>
            </a:pPr>
            <a:r>
              <a:t>推荐流程：</a:t>
            </a:r>
            <a:br/>
            <a:r>
              <a:t>  意图识别 → 候选召回 → 规则打分 → LLM语义打分 → 融合排序 → Top-3理由生成</a:t>
            </a:r>
            <a:br/>
            <a:br/>
            <a:r>
              <a:t>规则式三维度评分（权重可在线调参）：</a:t>
            </a:r>
            <a:br/>
            <a:r>
              <a:t>  • 价格匹配度 (40%) — 金柚价格区间 vs 用户预算，含超预算惩罚曲线</a:t>
            </a:r>
            <a:br/>
            <a:r>
              <a:t>  • 场景适配度 (35%) — 送礼/自用/商务场景标签精确+模糊匹配</a:t>
            </a:r>
            <a:br/>
            <a:r>
              <a:t>  • 客家特色贴合度 (25%) — 文化关联、产地、客家标签匹配</a:t>
            </a:r>
            <a:br/>
            <a:br/>
            <a:r>
              <a:t>大模型语义增强（规则+LLM 50/50融合）：</a:t>
            </a:r>
            <a:br/>
            <a:r>
              <a:t>  final_score = 0.5 × rule_total×10 + 0.5 × llm_score</a:t>
            </a:r>
            <a:br/>
            <a:r>
              <a:t>  Top-3个性化推荐理由由LLM生成，温暖亲切有客家味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B8B70"/>
                </a:solidFill>
              </a:defRPr>
            </a:pPr>
            <a:r>
              <a:t>客家金柚AI智荐系统 · 嘉应学院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3A28"/>
                </a:solidFill>
              </a:defRPr>
            </a:pPr>
            <a:r>
              <a:t>核心功能（6大模块）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54864"/>
          </a:xfrm>
          <a:prstGeom prst="rect">
            <a:avLst/>
          </a:prstGeom>
          <a:solidFill>
            <a:srgbClr val="D95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defRPr sz="2200">
                <a:solidFill>
                  <a:srgbClr val="2C2416"/>
                </a:solidFill>
              </a:defRPr>
            </a:pPr>
            <a:r>
              <a:t>1. AI智荐推荐 — 意图识别+大模型语义打分+规则式多因子评分融合排序</a:t>
            </a:r>
            <a:br/>
            <a:r>
              <a:t>2. 智能问答 — 金柚知识库检索+LLM生成回答，三层降级兜底</a:t>
            </a:r>
            <a:br/>
            <a:r>
              <a:t>3. 文案生成 — 电商详情页/朋友圈推文双场景AI创作</a:t>
            </a:r>
            <a:br/>
            <a:r>
              <a:t>4. 用户系统 — 微信OAuth登录，JWT Token认证，浏览历史记录</a:t>
            </a:r>
            <a:br/>
            <a:r>
              <a:t>5. 管理后台 — 知识库CRUD、Prompt模板版本管理、算法参数在线调优</a:t>
            </a:r>
            <a:br/>
            <a:r>
              <a:t>6. 调用日志 — 大模型全链路调用日志记录，支持Prompt迭代优化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B8B70"/>
                </a:solidFill>
              </a:defRPr>
            </a:pPr>
            <a:r>
              <a:t>客家金柚AI智荐系统 · 嘉应学院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3A28"/>
                </a:solidFill>
              </a:defRPr>
            </a:pPr>
            <a:r>
              <a:t>创新点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54864"/>
          </a:xfrm>
          <a:prstGeom prst="rect">
            <a:avLst/>
          </a:prstGeom>
          <a:solidFill>
            <a:srgbClr val="D95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defRPr sz="2000">
                <a:solidFill>
                  <a:srgbClr val="2C2416"/>
                </a:solidFill>
              </a:defRPr>
            </a:pPr>
            <a:r>
              <a:t>1. 大模型+规则式融合推荐——传统式打分与LLM语义增强结合，</a:t>
            </a:r>
            <a:br/>
            <a:r>
              <a:t>   三维度权重+融合比例均可在线调参，兼顾冷启动和语义理解</a:t>
            </a:r>
            <a:br/>
            <a:br/>
            <a:r>
              <a:t>2. 客家文化深度融入——知识库设计客家文化关联字段，</a:t>
            </a:r>
            <a:br/>
            <a:r>
              <a:t>   推荐理由和问答回答自然融入客家民俗、围龙屋、客语元素</a:t>
            </a:r>
            <a:br/>
            <a:br/>
            <a:r>
              <a:t>3. 多模型统一适配架构——LLMAdapter抽象基类实现DeepSeek/ChatGLM/Spark，</a:t>
            </a:r>
            <a:br/>
            <a:r>
              <a:t>   无缝切换，指数退避重试，异常分类处理</a:t>
            </a:r>
            <a:br/>
            <a:br/>
            <a:r>
              <a:t>4. Prompt工程化管理——专用模板库支持版本管理、场景分类、动态拼装</a:t>
            </a:r>
            <a:br/>
            <a:br/>
            <a:r>
              <a:t>5. 双前端架构——Vue 3 Web + 微信小程序并行开发，共用同一API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B8B70"/>
                </a:solidFill>
              </a:defRPr>
            </a:pPr>
            <a:r>
              <a:t>客家金柚AI智荐系统 · 嘉应学院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3A28"/>
                </a:solidFill>
              </a:defRPr>
            </a:pPr>
            <a:r>
              <a:t>数据库设计（5张核心表）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54864"/>
          </a:xfrm>
          <a:prstGeom prst="rect">
            <a:avLst/>
          </a:prstGeom>
          <a:solidFill>
            <a:srgbClr val="D95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800">
                <a:solidFill>
                  <a:srgbClr val="2C2416"/>
                </a:solidFill>
              </a:defRPr>
            </a:pPr>
            <a:r>
              <a:t>sys_user              — 微信OAuth用户（openid/unionid/nickname）</a:t>
            </a:r>
            <a:br/>
            <a:r>
              <a:t>golden_pomelo_knowledge — 金柚知识库（27字段：产地/规格/口感/</a:t>
            </a:r>
            <a:br/>
            <a:r>
              <a:t>                           种植工艺/保鲜储藏/客家文化/3个预评分维度）</a:t>
            </a:r>
            <a:br/>
            <a:r>
              <a:t>pomelo_prompt_library  — Prompt模板库（版本管理/is_current/priority/</a:t>
            </a:r>
            <a:br/>
            <a:r>
              <a:t>                           variables_schema，支持A/B切换）</a:t>
            </a:r>
            <a:br/>
            <a:r>
              <a:t>algo_rule_params       — 算法参数表（5个权重参数：3维度+2融合权重，</a:t>
            </a:r>
            <a:br/>
            <a:r>
              <a:t>                           在线修改即时生效）</a:t>
            </a:r>
            <a:br/>
            <a:r>
              <a:t>llm_invoke_log         — 大模型调用日志（全链路审计：token数/</a:t>
            </a:r>
            <a:br/>
            <a:r>
              <a:t>                           响应时间/重试次数/用户反馈）</a:t>
            </a:r>
            <a:br/>
            <a:br/>
            <a:r>
              <a:t>设计特点：utf8mb4 | 多维度索引 | 全文检索 | 逻辑删除 | 自动时间戳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B8B70"/>
                </a:solidFill>
              </a:defRPr>
            </a:pPr>
            <a:r>
              <a:t>客家金柚AI智荐系统 · 嘉应学院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3A28"/>
                </a:solidFill>
              </a:defRPr>
            </a:pPr>
            <a:r>
              <a:t>测试报告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54864"/>
          </a:xfrm>
          <a:prstGeom prst="rect">
            <a:avLst/>
          </a:prstGeom>
          <a:solidFill>
            <a:srgbClr val="D95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defRPr sz="2000">
                <a:solidFill>
                  <a:srgbClr val="2C2416"/>
                </a:solidFill>
              </a:defRPr>
            </a:pPr>
            <a:r>
              <a:t>测试覆盖：</a:t>
            </a:r>
            <a:br/>
            <a:r>
              <a:t>  · Python AI层 46个单元测试（融合排序23 + 意图识别23）</a:t>
            </a:r>
            <a:br/>
            <a:r>
              <a:t>  · Python AI层 7个LLM集成测试（真实DeepSeek调用）</a:t>
            </a:r>
            <a:br/>
            <a:r>
              <a:t>  · Spring Boot 10个单元测试（HttpUtils/QaService/RecommendService）</a:t>
            </a:r>
            <a:br/>
            <a:r>
              <a:t>  · 合计63个测试，全部通过</a:t>
            </a:r>
            <a:br/>
            <a:br/>
            <a:r>
              <a:t>性能指标：</a:t>
            </a:r>
            <a:br/>
            <a:r>
              <a:t>  · 意图识别平均响应 1.2s</a:t>
            </a:r>
            <a:br/>
            <a:r>
              <a:t>  · AI推荐+生成对话平均 3.6s</a:t>
            </a:r>
            <a:br/>
            <a:r>
              <a:t>  · 智能问答平均 4.5s</a:t>
            </a:r>
            <a:br/>
            <a:r>
              <a:t>  · 10候选推荐响应时间 &lt;5s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B8B70"/>
                </a:solidFill>
              </a:defRPr>
            </a:pPr>
            <a:r>
              <a:t>客家金柚AI智荐系统 · 嘉应学院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3A28"/>
                </a:solidFill>
              </a:defRPr>
            </a:pPr>
            <a:r>
              <a:t>项目成果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54864"/>
          </a:xfrm>
          <a:prstGeom prst="rect">
            <a:avLst/>
          </a:prstGeom>
          <a:solidFill>
            <a:srgbClr val="D95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defRPr sz="2200">
                <a:solidFill>
                  <a:srgbClr val="2C2416"/>
                </a:solidFill>
              </a:defRPr>
            </a:pPr>
            <a:r>
              <a:t>1. 完成四层架构AI智荐系统，约77个源代码文件</a:t>
            </a:r>
            <a:br/>
            <a:r>
              <a:t>2. 金柚知识库（7条）+ Prompt模板库（3条）+ 算法参数库（10条）</a:t>
            </a:r>
            <a:br/>
            <a:r>
              <a:t>3. 实现22个RESTful API接口，覆盖推荐/问答/生成/用户/管理全流程</a:t>
            </a:r>
            <a:br/>
            <a:r>
              <a:t>4. 双前端（Vue 3 Web 7页面 + 微信小程序6页面），功能完全对等</a:t>
            </a:r>
            <a:br/>
            <a:r>
              <a:t>5. 63个自动化测试，系统稳定可用</a:t>
            </a:r>
            <a:br/>
            <a:r>
              <a:t>6. 完整技术文档（README + 使用说明书 + 品牌规范 + 设计哲学）</a:t>
            </a:r>
            <a:br/>
            <a:r>
              <a:t>7. 演示模式可零外部依赖启动（H2内存数据库，无需MySQL/Redis）</a:t>
            </a:r>
            <a:br/>
            <a:r>
              <a:t>8. GitHub开源：github.com/sleepkingking/hakka-pomelo-ai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B8B70"/>
                </a:solidFill>
              </a:defRPr>
            </a:pPr>
            <a:r>
              <a:t>客家金柚AI智荐系统 · 嘉应学院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3A28"/>
                </a:solidFill>
              </a:defRPr>
            </a:pPr>
            <a:r>
              <a:t>技术栈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54864"/>
          </a:xfrm>
          <a:prstGeom prst="rect">
            <a:avLst/>
          </a:prstGeom>
          <a:solidFill>
            <a:srgbClr val="D95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defRPr sz="2200">
                <a:solidFill>
                  <a:srgbClr val="2C2416"/>
                </a:solidFill>
              </a:defRPr>
            </a:pPr>
            <a:r>
              <a:t>前端：    Vue 3 + Vite 5 + Vue Router 4 + Pinia 2 | 微信小程序原生</a:t>
            </a:r>
            <a:br/>
            <a:br/>
            <a:r>
              <a:t>后端：    Spring Boot 3.2.5 + MyBatis-Plus 3.5.6</a:t>
            </a:r>
            <a:br/>
            <a:r>
              <a:t>          Spring Security + Redis 缓存 + JWT Token认证</a:t>
            </a:r>
            <a:br/>
            <a:br/>
            <a:r>
              <a:t>AI层：    Python Flask 3.0 + DeepSeek API（默认）</a:t>
            </a:r>
            <a:br/>
            <a:r>
              <a:t>          ChatGLM-4 / 讯飞星火（可选）· gunicorn</a:t>
            </a:r>
            <a:br/>
            <a:br/>
            <a:r>
              <a:t>数据库：  MySQL 8.0 + Redis 7 | H2内存数据库（演示模式）</a:t>
            </a:r>
            <a:br/>
            <a:br/>
            <a:r>
              <a:t>DevOps：   Maven 3.9 + pytest 9.0 + JUnit 5 + Mockito · Git +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B8B70"/>
                </a:solidFill>
              </a:defRPr>
            </a:pPr>
            <a:r>
              <a:t>客家金柚AI智荐系统 · 嘉应学院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5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感谢聆听</a:t>
            </a:r>
          </a:p>
          <a:p>
            <a:pPr algn="ctr">
              <a:defRPr sz="1800" b="0">
                <a:solidFill>
                  <a:srgbClr val="FFFFFF"/>
                </a:solidFill>
              </a:defRPr>
            </a:pPr>
          </a:p>
          <a:p>
            <a:pPr algn="ctr">
              <a:defRPr sz="2800" b="0">
                <a:solidFill>
                  <a:srgbClr val="FAF5EB"/>
                </a:solidFill>
              </a:defRPr>
            </a:pPr>
            <a:r>
              <a:t>客家金柚AI智荐系统</a:t>
            </a:r>
          </a:p>
          <a:p>
            <a:pPr algn="ctr">
              <a:defRPr sz="1800" b="0">
                <a:solidFill>
                  <a:srgbClr val="FAF5EB"/>
                </a:solidFill>
              </a:defRPr>
            </a:pPr>
            <a:r>
              <a:t>嘉应学院 · 大学生创新训练项目 · 2026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FAF5EB"/>
                </a:solidFill>
              </a:defRPr>
            </a:pPr>
            <a:r>
              <a:t>github.com/sleepkingking/hakka-pomelo-ai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